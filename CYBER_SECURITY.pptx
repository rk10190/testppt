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3" r:id="rId7"/>
    <p:sldId id="262" r:id="rId8"/>
    <p:sldId id="267" r:id="rId9"/>
    <p:sldId id="261" r:id="rId10"/>
    <p:sldId id="264"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50" d="100"/>
          <a:sy n="50" d="100"/>
        </p:scale>
        <p:origin x="1500" y="5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AFBBF46F-71B3-4D7D-BB2E-0ACA290ADF72}" type="datetimeFigureOut">
              <a:rPr lang="en-US" smtClean="0"/>
              <a:t>12/26/2020</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20E20B04-BBA2-44E7-8C94-FFE04F6AC8B6}" type="slidenum">
              <a:rPr lang="en-US" smtClean="0"/>
              <a:t>‹#›</a:t>
            </a:fld>
            <a:endParaRPr lang="en-US"/>
          </a:p>
        </p:txBody>
      </p:sp>
    </p:spTree>
    <p:extLst>
      <p:ext uri="{BB962C8B-B14F-4D97-AF65-F5344CB8AC3E}">
        <p14:creationId xmlns:p14="http://schemas.microsoft.com/office/powerpoint/2010/main" val="564369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FBBF46F-71B3-4D7D-BB2E-0ACA290ADF72}" type="datetimeFigureOut">
              <a:rPr lang="en-US" smtClean="0"/>
              <a:t>12/26/2020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E20B04-BBA2-44E7-8C94-FFE04F6AC8B6}" type="slidenum">
              <a:rPr lang="en-US" smtClean="0"/>
              <a:t>‹#›</a:t>
            </a:fld>
            <a:endParaRPr lang="en-US"/>
          </a:p>
        </p:txBody>
      </p:sp>
    </p:spTree>
    <p:extLst>
      <p:ext uri="{BB962C8B-B14F-4D97-AF65-F5344CB8AC3E}">
        <p14:creationId xmlns:p14="http://schemas.microsoft.com/office/powerpoint/2010/main" val="223103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FBBF46F-71B3-4D7D-BB2E-0ACA290ADF72}" type="datetimeFigureOut">
              <a:rPr lang="en-US" smtClean="0"/>
              <a:t>12/26/2020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E20B04-BBA2-44E7-8C94-FFE04F6AC8B6}" type="slidenum">
              <a:rPr lang="en-US" smtClean="0"/>
              <a:t>‹#›</a:t>
            </a:fld>
            <a:endParaRPr lang="en-US"/>
          </a:p>
        </p:txBody>
      </p:sp>
    </p:spTree>
    <p:extLst>
      <p:ext uri="{BB962C8B-B14F-4D97-AF65-F5344CB8AC3E}">
        <p14:creationId xmlns:p14="http://schemas.microsoft.com/office/powerpoint/2010/main" val="2394750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FBBF46F-71B3-4D7D-BB2E-0ACA290ADF72}" type="datetimeFigureOut">
              <a:rPr lang="en-US" smtClean="0"/>
              <a:t>12/26/2020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E20B04-BBA2-44E7-8C94-FFE04F6AC8B6}" type="slidenum">
              <a:rPr lang="en-US" smtClean="0"/>
              <a:t>‹#›</a:t>
            </a:fld>
            <a:endParaRPr lang="en-US"/>
          </a:p>
        </p:txBody>
      </p:sp>
    </p:spTree>
    <p:extLst>
      <p:ext uri="{BB962C8B-B14F-4D97-AF65-F5344CB8AC3E}">
        <p14:creationId xmlns:p14="http://schemas.microsoft.com/office/powerpoint/2010/main" val="3045677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FBBF46F-71B3-4D7D-BB2E-0ACA290ADF72}" type="datetimeFigureOut">
              <a:rPr lang="en-US" smtClean="0"/>
              <a:t>12/26/2020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E20B04-BBA2-44E7-8C94-FFE04F6AC8B6}" type="slidenum">
              <a:rPr lang="en-US" smtClean="0"/>
              <a:t>‹#›</a:t>
            </a:fld>
            <a:endParaRPr lang="en-US"/>
          </a:p>
        </p:txBody>
      </p:sp>
    </p:spTree>
    <p:extLst>
      <p:ext uri="{BB962C8B-B14F-4D97-AF65-F5344CB8AC3E}">
        <p14:creationId xmlns:p14="http://schemas.microsoft.com/office/powerpoint/2010/main" val="222320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FBBF46F-71B3-4D7D-BB2E-0ACA290ADF72}" type="datetimeFigureOut">
              <a:rPr lang="en-US" smtClean="0"/>
              <a:t>12/26/2020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E20B04-BBA2-44E7-8C94-FFE04F6AC8B6}" type="slidenum">
              <a:rPr lang="en-US" smtClean="0"/>
              <a:t>‹#›</a:t>
            </a:fld>
            <a:endParaRPr lang="en-US"/>
          </a:p>
        </p:txBody>
      </p:sp>
    </p:spTree>
    <p:extLst>
      <p:ext uri="{BB962C8B-B14F-4D97-AF65-F5344CB8AC3E}">
        <p14:creationId xmlns:p14="http://schemas.microsoft.com/office/powerpoint/2010/main" val="3799957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BBF46F-71B3-4D7D-BB2E-0ACA290ADF72}" type="datetimeFigureOut">
              <a:rPr lang="en-US" smtClean="0"/>
              <a:t>12/26/2020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E20B04-BBA2-44E7-8C94-FFE04F6AC8B6}" type="slidenum">
              <a:rPr lang="en-US" smtClean="0"/>
              <a:t>‹#›</a:t>
            </a:fld>
            <a:endParaRPr lang="en-US"/>
          </a:p>
        </p:txBody>
      </p:sp>
    </p:spTree>
    <p:extLst>
      <p:ext uri="{BB962C8B-B14F-4D97-AF65-F5344CB8AC3E}">
        <p14:creationId xmlns:p14="http://schemas.microsoft.com/office/powerpoint/2010/main" val="2155455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FBBF46F-71B3-4D7D-BB2E-0ACA290ADF72}" type="datetimeFigureOut">
              <a:rPr lang="en-US" smtClean="0"/>
              <a:t>12/26/2020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E20B04-BBA2-44E7-8C94-FFE04F6AC8B6}" type="slidenum">
              <a:rPr lang="en-US" smtClean="0"/>
              <a:t>‹#›</a:t>
            </a:fld>
            <a:endParaRPr lang="en-US"/>
          </a:p>
        </p:txBody>
      </p:sp>
    </p:spTree>
    <p:extLst>
      <p:ext uri="{BB962C8B-B14F-4D97-AF65-F5344CB8AC3E}">
        <p14:creationId xmlns:p14="http://schemas.microsoft.com/office/powerpoint/2010/main" val="731806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FBBF46F-71B3-4D7D-BB2E-0ACA290ADF72}" type="datetimeFigureOut">
              <a:rPr lang="en-US" smtClean="0"/>
              <a:t>12/26/2020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E20B04-BBA2-44E7-8C94-FFE04F6AC8B6}" type="slidenum">
              <a:rPr lang="en-US" smtClean="0"/>
              <a:t>‹#›</a:t>
            </a:fld>
            <a:endParaRPr lang="en-US"/>
          </a:p>
        </p:txBody>
      </p:sp>
    </p:spTree>
    <p:extLst>
      <p:ext uri="{BB962C8B-B14F-4D97-AF65-F5344CB8AC3E}">
        <p14:creationId xmlns:p14="http://schemas.microsoft.com/office/powerpoint/2010/main" val="1563200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FBBF46F-71B3-4D7D-BB2E-0ACA290ADF72}" type="datetimeFigureOut">
              <a:rPr lang="en-US" smtClean="0"/>
              <a:t>12/26/2020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E20B04-BBA2-44E7-8C94-FFE04F6AC8B6}" type="slidenum">
              <a:rPr lang="en-US" smtClean="0"/>
              <a:t>‹#›</a:t>
            </a:fld>
            <a:endParaRPr lang="en-US"/>
          </a:p>
        </p:txBody>
      </p:sp>
    </p:spTree>
    <p:extLst>
      <p:ext uri="{BB962C8B-B14F-4D97-AF65-F5344CB8AC3E}">
        <p14:creationId xmlns:p14="http://schemas.microsoft.com/office/powerpoint/2010/main" val="776755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FBBF46F-71B3-4D7D-BB2E-0ACA290ADF72}" type="datetimeFigureOut">
              <a:rPr lang="en-US" smtClean="0"/>
              <a:t>12/26/2020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E20B04-BBA2-44E7-8C94-FFE04F6AC8B6}" type="slidenum">
              <a:rPr lang="en-US" smtClean="0"/>
              <a:t>‹#›</a:t>
            </a:fld>
            <a:endParaRPr lang="en-US"/>
          </a:p>
        </p:txBody>
      </p:sp>
    </p:spTree>
    <p:extLst>
      <p:ext uri="{BB962C8B-B14F-4D97-AF65-F5344CB8AC3E}">
        <p14:creationId xmlns:p14="http://schemas.microsoft.com/office/powerpoint/2010/main" val="3767164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FBBF46F-71B3-4D7D-BB2E-0ACA290ADF72}" type="datetimeFigureOut">
              <a:rPr lang="en-US" smtClean="0"/>
              <a:t>12/26/2020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E20B04-BBA2-44E7-8C94-FFE04F6AC8B6}"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1651361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FBBF46F-71B3-4D7D-BB2E-0ACA290ADF72}" type="datetimeFigureOut">
              <a:rPr lang="en-US" smtClean="0"/>
              <a:t>12/26/2020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E20B04-BBA2-44E7-8C94-FFE04F6AC8B6}" type="slidenum">
              <a:rPr lang="en-US" smtClean="0"/>
              <a:t>‹#›</a:t>
            </a:fld>
            <a:endParaRPr lang="en-US"/>
          </a:p>
        </p:txBody>
      </p:sp>
    </p:spTree>
    <p:extLst>
      <p:ext uri="{BB962C8B-B14F-4D97-AF65-F5344CB8AC3E}">
        <p14:creationId xmlns:p14="http://schemas.microsoft.com/office/powerpoint/2010/main" val="40684456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AFBBF46F-71B3-4D7D-BB2E-0ACA290ADF72}" type="datetimeFigureOut">
              <a:rPr lang="en-US" smtClean="0"/>
              <a:t>12/26/2020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E20B04-BBA2-44E7-8C94-FFE04F6AC8B6}" type="slidenum">
              <a:rPr lang="en-US" smtClean="0"/>
              <a:t>‹#›</a:t>
            </a:fld>
            <a:endParaRPr lang="en-US"/>
          </a:p>
        </p:txBody>
      </p:sp>
    </p:spTree>
    <p:extLst>
      <p:ext uri="{BB962C8B-B14F-4D97-AF65-F5344CB8AC3E}">
        <p14:creationId xmlns:p14="http://schemas.microsoft.com/office/powerpoint/2010/main" val="1182658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AFBBF46F-71B3-4D7D-BB2E-0ACA290ADF72}" type="datetimeFigureOut">
              <a:rPr lang="en-US" smtClean="0"/>
              <a:t>12/26/2020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E20B04-BBA2-44E7-8C94-FFE04F6AC8B6}" type="slidenum">
              <a:rPr lang="en-US" smtClean="0"/>
              <a:t>‹#›</a:t>
            </a:fld>
            <a:endParaRPr lang="en-US"/>
          </a:p>
        </p:txBody>
      </p:sp>
    </p:spTree>
    <p:extLst>
      <p:ext uri="{BB962C8B-B14F-4D97-AF65-F5344CB8AC3E}">
        <p14:creationId xmlns:p14="http://schemas.microsoft.com/office/powerpoint/2010/main" val="31509757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FBBF46F-71B3-4D7D-BB2E-0ACA290ADF72}" type="datetimeFigureOut">
              <a:rPr lang="en-US" smtClean="0"/>
              <a:t>12/26/2020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E20B04-BBA2-44E7-8C94-FFE04F6AC8B6}" type="slidenum">
              <a:rPr lang="en-US" smtClean="0"/>
              <a:t>‹#›</a:t>
            </a:fld>
            <a:endParaRPr lang="en-US"/>
          </a:p>
        </p:txBody>
      </p:sp>
    </p:spTree>
    <p:extLst>
      <p:ext uri="{BB962C8B-B14F-4D97-AF65-F5344CB8AC3E}">
        <p14:creationId xmlns:p14="http://schemas.microsoft.com/office/powerpoint/2010/main" val="25783425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FBBF46F-71B3-4D7D-BB2E-0ACA290ADF72}" type="datetimeFigureOut">
              <a:rPr lang="en-US" smtClean="0"/>
              <a:t>12/26/2020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E20B04-BBA2-44E7-8C94-FFE04F6AC8B6}" type="slidenum">
              <a:rPr lang="en-US" smtClean="0"/>
              <a:t>‹#›</a:t>
            </a:fld>
            <a:endParaRPr lang="en-US"/>
          </a:p>
        </p:txBody>
      </p:sp>
    </p:spTree>
    <p:extLst>
      <p:ext uri="{BB962C8B-B14F-4D97-AF65-F5344CB8AC3E}">
        <p14:creationId xmlns:p14="http://schemas.microsoft.com/office/powerpoint/2010/main" val="1903401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FBBF46F-71B3-4D7D-BB2E-0ACA290ADF72}" type="datetimeFigureOut">
              <a:rPr lang="en-US" smtClean="0"/>
              <a:t>12/26/2020</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0E20B04-BBA2-44E7-8C94-FFE04F6AC8B6}" type="slidenum">
              <a:rPr lang="en-US" smtClean="0"/>
              <a:t>‹#›</a:t>
            </a:fld>
            <a:endParaRPr lang="en-US"/>
          </a:p>
        </p:txBody>
      </p:sp>
    </p:spTree>
    <p:extLst>
      <p:ext uri="{BB962C8B-B14F-4D97-AF65-F5344CB8AC3E}">
        <p14:creationId xmlns:p14="http://schemas.microsoft.com/office/powerpoint/2010/main" val="79184411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Digital_signature" TargetMode="External"/><Relationship Id="rId2" Type="http://schemas.openxmlformats.org/officeDocument/2006/relationships/hyperlink" Target="https://en.wikipedia.org/wiki/Electronic_records" TargetMode="External"/><Relationship Id="rId1" Type="http://schemas.openxmlformats.org/officeDocument/2006/relationships/slideLayout" Target="../slideLayouts/slideLayout2.xml"/><Relationship Id="rId4" Type="http://schemas.openxmlformats.org/officeDocument/2006/relationships/hyperlink" Target="https://en.wikipedia.org/wiki/Indian_Penal_Cod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Intelligence_Bureau_(India)" TargetMode="External"/><Relationship Id="rId2" Type="http://schemas.openxmlformats.org/officeDocument/2006/relationships/hyperlink" Target="https://en.wikipedia.org/wiki/Ministry_of_Home_Affairs_(India)" TargetMode="External"/><Relationship Id="rId1" Type="http://schemas.openxmlformats.org/officeDocument/2006/relationships/slideLayout" Target="../slideLayouts/slideLayout2.xml"/><Relationship Id="rId6" Type="http://schemas.openxmlformats.org/officeDocument/2006/relationships/hyperlink" Target="https://en.wikipedia.org/wiki/Delhi_Police" TargetMode="External"/><Relationship Id="rId5" Type="http://schemas.openxmlformats.org/officeDocument/2006/relationships/hyperlink" Target="https://en.wikipedia.org/wiki/National_Investigation_Agency" TargetMode="External"/><Relationship Id="rId4" Type="http://schemas.openxmlformats.org/officeDocument/2006/relationships/hyperlink" Target="https://en.wikipedia.org/wiki/Central_Bureau_of_Investigation"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meity.gov.in/content/cyber-laws" TargetMode="External"/><Relationship Id="rId2" Type="http://schemas.openxmlformats.org/officeDocument/2006/relationships/hyperlink" Target="https://www.infosecawareness.in/cyber-laws-of-india" TargetMode="External"/><Relationship Id="rId1" Type="http://schemas.openxmlformats.org/officeDocument/2006/relationships/slideLayout" Target="../slideLayouts/slideLayout2.xml"/><Relationship Id="rId4" Type="http://schemas.openxmlformats.org/officeDocument/2006/relationships/hyperlink" Target="http://www.legalserviceindia.com/legal/article-1019-importance-of-cyber-law-in-india.html"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ontent/en-global/images/repository/isc/2017-images/What-is-Cyber-Securit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686873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1471687" y="2132260"/>
            <a:ext cx="8791575" cy="871266"/>
          </a:xfrm>
        </p:spPr>
        <p:txBody>
          <a:bodyPr>
            <a:normAutofit/>
          </a:bodyPr>
          <a:lstStyle/>
          <a:p>
            <a:pPr algn="ctr"/>
            <a:r>
              <a:rPr lang="en-US" b="1" dirty="0" smtClean="0">
                <a:solidFill>
                  <a:schemeClr val="tx2">
                    <a:lumMod val="75000"/>
                  </a:schemeClr>
                </a:solidFill>
              </a:rPr>
              <a:t>CYBER SECURITY</a:t>
            </a:r>
            <a:endParaRPr lang="en-US" b="1" dirty="0">
              <a:solidFill>
                <a:schemeClr val="tx2">
                  <a:lumMod val="75000"/>
                </a:schemeClr>
              </a:solidFill>
            </a:endParaRPr>
          </a:p>
        </p:txBody>
      </p:sp>
      <p:sp>
        <p:nvSpPr>
          <p:cNvPr id="5" name="TextBox 4"/>
          <p:cNvSpPr txBox="1"/>
          <p:nvPr/>
        </p:nvSpPr>
        <p:spPr>
          <a:xfrm>
            <a:off x="-116561" y="3434365"/>
            <a:ext cx="3958045" cy="2092881"/>
          </a:xfrm>
          <a:prstGeom prst="rect">
            <a:avLst/>
          </a:prstGeom>
          <a:noFill/>
        </p:spPr>
        <p:txBody>
          <a:bodyPr wrap="square" rtlCol="0">
            <a:spAutoFit/>
          </a:bodyPr>
          <a:lstStyle/>
          <a:p>
            <a:r>
              <a:rPr lang="en-US" sz="2400" dirty="0" smtClean="0"/>
              <a:t>	</a:t>
            </a:r>
            <a:r>
              <a:rPr lang="en-US" sz="2400" dirty="0" smtClean="0">
                <a:solidFill>
                  <a:schemeClr val="accent3">
                    <a:lumMod val="75000"/>
                  </a:schemeClr>
                </a:solidFill>
              </a:rPr>
              <a:t>Presented By : </a:t>
            </a:r>
          </a:p>
          <a:p>
            <a:endParaRPr lang="en-US" sz="1000" dirty="0" smtClean="0">
              <a:solidFill>
                <a:schemeClr val="accent3">
                  <a:lumMod val="75000"/>
                </a:schemeClr>
              </a:solidFill>
            </a:endParaRPr>
          </a:p>
          <a:p>
            <a:r>
              <a:rPr lang="en-US" sz="2400" dirty="0" smtClean="0"/>
              <a:t>	</a:t>
            </a:r>
            <a:r>
              <a:rPr lang="en-US" sz="2400" dirty="0" err="1" smtClean="0">
                <a:solidFill>
                  <a:srgbClr val="92D050"/>
                </a:solidFill>
              </a:rPr>
              <a:t>Rohit</a:t>
            </a:r>
            <a:r>
              <a:rPr lang="en-US" sz="2400" dirty="0" smtClean="0">
                <a:solidFill>
                  <a:srgbClr val="92D050"/>
                </a:solidFill>
              </a:rPr>
              <a:t> Kumar</a:t>
            </a:r>
          </a:p>
          <a:p>
            <a:r>
              <a:rPr lang="en-US" sz="2400" dirty="0">
                <a:solidFill>
                  <a:srgbClr val="92D050"/>
                </a:solidFill>
              </a:rPr>
              <a:t>	</a:t>
            </a:r>
            <a:r>
              <a:rPr lang="en-US" sz="2400" dirty="0" smtClean="0">
                <a:solidFill>
                  <a:srgbClr val="92D050"/>
                </a:solidFill>
              </a:rPr>
              <a:t>Anurag Kumar Singh</a:t>
            </a:r>
          </a:p>
          <a:p>
            <a:r>
              <a:rPr lang="en-US" sz="2400" dirty="0">
                <a:solidFill>
                  <a:srgbClr val="92D050"/>
                </a:solidFill>
              </a:rPr>
              <a:t>	</a:t>
            </a:r>
            <a:r>
              <a:rPr lang="en-US" sz="2400" dirty="0" smtClean="0">
                <a:solidFill>
                  <a:srgbClr val="92D050"/>
                </a:solidFill>
              </a:rPr>
              <a:t>Gaurav Singh</a:t>
            </a:r>
          </a:p>
          <a:p>
            <a:r>
              <a:rPr lang="en-US" sz="2400" dirty="0">
                <a:solidFill>
                  <a:srgbClr val="92D050"/>
                </a:solidFill>
              </a:rPr>
              <a:t>	</a:t>
            </a:r>
            <a:r>
              <a:rPr lang="en-US" sz="2400" dirty="0" smtClean="0">
                <a:solidFill>
                  <a:srgbClr val="92D050"/>
                </a:solidFill>
              </a:rPr>
              <a:t>Kumar </a:t>
            </a:r>
            <a:r>
              <a:rPr lang="en-US" sz="2400" dirty="0" err="1" smtClean="0">
                <a:solidFill>
                  <a:srgbClr val="92D050"/>
                </a:solidFill>
              </a:rPr>
              <a:t>Rishabh</a:t>
            </a:r>
            <a:endParaRPr lang="en-US" sz="2400" dirty="0">
              <a:solidFill>
                <a:srgbClr val="92D050"/>
              </a:solidFill>
            </a:endParaRPr>
          </a:p>
        </p:txBody>
      </p:sp>
    </p:spTree>
    <p:extLst>
      <p:ext uri="{BB962C8B-B14F-4D97-AF65-F5344CB8AC3E}">
        <p14:creationId xmlns:p14="http://schemas.microsoft.com/office/powerpoint/2010/main" val="22257353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IT-ACT 2000</a:t>
            </a:r>
            <a:endParaRPr lang="en-US" dirty="0"/>
          </a:p>
        </p:txBody>
      </p:sp>
      <p:sp>
        <p:nvSpPr>
          <p:cNvPr id="3" name="Content Placeholder 2"/>
          <p:cNvSpPr>
            <a:spLocks noGrp="1"/>
          </p:cNvSpPr>
          <p:nvPr>
            <p:ph idx="1"/>
          </p:nvPr>
        </p:nvSpPr>
        <p:spPr/>
        <p:txBody>
          <a:bodyPr/>
          <a:lstStyle/>
          <a:p>
            <a:r>
              <a:rPr lang="en-US" dirty="0" smtClean="0"/>
              <a:t>Why we need IT-ACT</a:t>
            </a:r>
          </a:p>
          <a:p>
            <a:r>
              <a:rPr lang="en-US" dirty="0" smtClean="0"/>
              <a:t>IT-ACT 2000 details</a:t>
            </a:r>
          </a:p>
          <a:p>
            <a:r>
              <a:rPr lang="en-US" dirty="0" smtClean="0"/>
              <a:t>Changes since formation</a:t>
            </a:r>
            <a:endParaRPr lang="en-US" dirty="0"/>
          </a:p>
        </p:txBody>
      </p:sp>
    </p:spTree>
    <p:extLst>
      <p:ext uri="{BB962C8B-B14F-4D97-AF65-F5344CB8AC3E}">
        <p14:creationId xmlns:p14="http://schemas.microsoft.com/office/powerpoint/2010/main" val="37112063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we need IT-ACT</a:t>
            </a:r>
          </a:p>
        </p:txBody>
      </p:sp>
      <p:sp>
        <p:nvSpPr>
          <p:cNvPr id="3" name="Content Placeholder 2"/>
          <p:cNvSpPr>
            <a:spLocks noGrp="1"/>
          </p:cNvSpPr>
          <p:nvPr>
            <p:ph idx="1"/>
          </p:nvPr>
        </p:nvSpPr>
        <p:spPr>
          <a:xfrm>
            <a:off x="1141412" y="2301739"/>
            <a:ext cx="9905999" cy="3541714"/>
          </a:xfrm>
        </p:spPr>
        <p:txBody>
          <a:bodyPr/>
          <a:lstStyle/>
          <a:p>
            <a:r>
              <a:rPr lang="en-US" dirty="0" smtClean="0"/>
              <a:t>To handle negative aspect of Internet and computer based services in India</a:t>
            </a:r>
          </a:p>
          <a:p>
            <a:r>
              <a:rPr lang="en-US" dirty="0"/>
              <a:t>Granting legal recognition to all electronic </a:t>
            </a:r>
            <a:r>
              <a:rPr lang="en-US" dirty="0" smtClean="0"/>
              <a:t>transactions</a:t>
            </a:r>
          </a:p>
          <a:p>
            <a:r>
              <a:rPr lang="en-US" dirty="0"/>
              <a:t>Give legal recognition to digital </a:t>
            </a:r>
            <a:r>
              <a:rPr lang="en-US" dirty="0" smtClean="0"/>
              <a:t>signatures, Fund transfer &amp; Bankers</a:t>
            </a:r>
          </a:p>
          <a:p>
            <a:r>
              <a:rPr lang="en-US" dirty="0"/>
              <a:t>Facilitate the electronic storage of data</a:t>
            </a:r>
          </a:p>
          <a:p>
            <a:endParaRPr lang="en-US" dirty="0" smtClean="0"/>
          </a:p>
          <a:p>
            <a:endParaRPr lang="en-US" dirty="0"/>
          </a:p>
        </p:txBody>
      </p:sp>
    </p:spTree>
    <p:extLst>
      <p:ext uri="{BB962C8B-B14F-4D97-AF65-F5344CB8AC3E}">
        <p14:creationId xmlns:p14="http://schemas.microsoft.com/office/powerpoint/2010/main" val="2458070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0236" y="161318"/>
            <a:ext cx="9905998" cy="1478570"/>
          </a:xfrm>
        </p:spPr>
        <p:txBody>
          <a:bodyPr/>
          <a:lstStyle/>
          <a:p>
            <a:r>
              <a:rPr lang="en-US" dirty="0"/>
              <a:t>IT-ACT 2000 details</a:t>
            </a:r>
          </a:p>
        </p:txBody>
      </p:sp>
      <p:sp>
        <p:nvSpPr>
          <p:cNvPr id="3" name="Content Placeholder 2"/>
          <p:cNvSpPr>
            <a:spLocks noGrp="1"/>
          </p:cNvSpPr>
          <p:nvPr>
            <p:ph idx="1"/>
          </p:nvPr>
        </p:nvSpPr>
        <p:spPr>
          <a:xfrm>
            <a:off x="867092" y="1766162"/>
            <a:ext cx="10811102" cy="3541714"/>
          </a:xfrm>
        </p:spPr>
        <p:txBody>
          <a:bodyPr>
            <a:noAutofit/>
          </a:bodyPr>
          <a:lstStyle/>
          <a:p>
            <a:pPr>
              <a:buFont typeface="Wingdings" panose="05000000000000000000" pitchFamily="2" charset="2"/>
              <a:buChar char="ü"/>
            </a:pPr>
            <a:r>
              <a:rPr lang="en-US" sz="2800" dirty="0"/>
              <a:t>The laws apply to </a:t>
            </a:r>
            <a:r>
              <a:rPr lang="en-US" sz="2800" dirty="0" smtClean="0"/>
              <a:t>whole India or any computer or internet related crime</a:t>
            </a:r>
          </a:p>
          <a:p>
            <a:pPr>
              <a:buFont typeface="Wingdings" panose="05000000000000000000" pitchFamily="2" charset="2"/>
              <a:buChar char="ü"/>
            </a:pPr>
            <a:r>
              <a:rPr lang="en-US" sz="2800" dirty="0"/>
              <a:t>provides a legal framework for electronic governance by giving recognition to </a:t>
            </a:r>
            <a:r>
              <a:rPr lang="en-US" sz="2800" dirty="0">
                <a:hlinkClick r:id="rId2" tooltip="Electronic records"/>
              </a:rPr>
              <a:t>electronic records</a:t>
            </a:r>
            <a:r>
              <a:rPr lang="en-US" sz="2800" dirty="0"/>
              <a:t> and </a:t>
            </a:r>
            <a:r>
              <a:rPr lang="en-US" sz="2800" dirty="0">
                <a:hlinkClick r:id="rId3" tooltip="Digital signature"/>
              </a:rPr>
              <a:t>digital signatures</a:t>
            </a:r>
            <a:r>
              <a:rPr lang="en-US" sz="2800" dirty="0" smtClean="0"/>
              <a:t>.</a:t>
            </a:r>
          </a:p>
          <a:p>
            <a:pPr>
              <a:buFont typeface="Wingdings" panose="05000000000000000000" pitchFamily="2" charset="2"/>
              <a:buChar char="ü"/>
            </a:pPr>
            <a:r>
              <a:rPr lang="en-US" sz="2800" dirty="0"/>
              <a:t>A procedure for the appointment of adjudicating officers for holding inquiries under the Act is finalized</a:t>
            </a:r>
          </a:p>
          <a:p>
            <a:pPr>
              <a:buFont typeface="Wingdings" panose="05000000000000000000" pitchFamily="2" charset="2"/>
              <a:buChar char="ü"/>
            </a:pPr>
            <a:r>
              <a:rPr lang="en-US" sz="2800" dirty="0" smtClean="0"/>
              <a:t>The </a:t>
            </a:r>
            <a:r>
              <a:rPr lang="en-US" sz="2800" dirty="0"/>
              <a:t>Act also amended various sections of the </a:t>
            </a:r>
            <a:r>
              <a:rPr lang="en-US" sz="2800" dirty="0">
                <a:hlinkClick r:id="rId4" tooltip="Indian Penal Code"/>
              </a:rPr>
              <a:t>Indian Penal Code, </a:t>
            </a:r>
            <a:r>
              <a:rPr lang="en-US" sz="2800" dirty="0" smtClean="0">
                <a:hlinkClick r:id="rId4" tooltip="Indian Penal Code"/>
              </a:rPr>
              <a:t>1860</a:t>
            </a:r>
            <a:r>
              <a:rPr lang="en-US" sz="2800" dirty="0"/>
              <a:t>, Indian Evidence Act, 1872</a:t>
            </a:r>
            <a:r>
              <a:rPr lang="en-US" sz="2800" dirty="0" smtClean="0"/>
              <a:t>, </a:t>
            </a:r>
            <a:r>
              <a:rPr lang="en-US" sz="2800" dirty="0"/>
              <a:t>Banker's Book Evidence Act, </a:t>
            </a:r>
            <a:r>
              <a:rPr lang="en-US" sz="2800" dirty="0" smtClean="0"/>
              <a:t>1891.</a:t>
            </a:r>
          </a:p>
        </p:txBody>
      </p:sp>
    </p:spTree>
    <p:extLst>
      <p:ext uri="{BB962C8B-B14F-4D97-AF65-F5344CB8AC3E}">
        <p14:creationId xmlns:p14="http://schemas.microsoft.com/office/powerpoint/2010/main" val="7315195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0418" y="0"/>
            <a:ext cx="9905998" cy="1478570"/>
          </a:xfrm>
        </p:spPr>
        <p:txBody>
          <a:bodyPr/>
          <a:lstStyle/>
          <a:p>
            <a:r>
              <a:rPr lang="en-US" dirty="0" smtClean="0"/>
              <a:t>Continues …</a:t>
            </a:r>
            <a:endParaRPr lang="en-US" dirty="0"/>
          </a:p>
        </p:txBody>
      </p:sp>
      <p:sp>
        <p:nvSpPr>
          <p:cNvPr id="3" name="Content Placeholder 2"/>
          <p:cNvSpPr>
            <a:spLocks noGrp="1"/>
          </p:cNvSpPr>
          <p:nvPr>
            <p:ph idx="1"/>
          </p:nvPr>
        </p:nvSpPr>
        <p:spPr>
          <a:xfrm>
            <a:off x="1076098" y="1113019"/>
            <a:ext cx="10654348" cy="3541714"/>
          </a:xfrm>
        </p:spPr>
        <p:txBody>
          <a:bodyPr>
            <a:normAutofit/>
          </a:bodyPr>
          <a:lstStyle/>
          <a:p>
            <a:pPr>
              <a:buFont typeface="Wingdings" panose="05000000000000000000" pitchFamily="2" charset="2"/>
              <a:buChar char="ü"/>
            </a:pPr>
            <a:r>
              <a:rPr lang="en-US" sz="2800" dirty="0"/>
              <a:t>All electronic contracts made through secure electronic channels are legally valid</a:t>
            </a:r>
            <a:r>
              <a:rPr lang="en-US" sz="2800" dirty="0" smtClean="0"/>
              <a:t>.</a:t>
            </a:r>
          </a:p>
          <a:p>
            <a:pPr>
              <a:buFont typeface="Wingdings" panose="05000000000000000000" pitchFamily="2" charset="2"/>
              <a:buChar char="ü"/>
            </a:pPr>
            <a:r>
              <a:rPr lang="en-US" sz="2800" dirty="0"/>
              <a:t>Security measures for electronic records and also digital signatures are in place</a:t>
            </a:r>
          </a:p>
          <a:p>
            <a:pPr>
              <a:buFont typeface="Wingdings" panose="05000000000000000000" pitchFamily="2" charset="2"/>
              <a:buChar char="ü"/>
            </a:pPr>
            <a:endParaRPr lang="en-US" sz="2800" dirty="0"/>
          </a:p>
        </p:txBody>
      </p:sp>
    </p:spTree>
    <p:extLst>
      <p:ext uri="{BB962C8B-B14F-4D97-AF65-F5344CB8AC3E}">
        <p14:creationId xmlns:p14="http://schemas.microsoft.com/office/powerpoint/2010/main" val="28425386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Changes since formation</a:t>
            </a:r>
          </a:p>
        </p:txBody>
      </p:sp>
      <p:sp>
        <p:nvSpPr>
          <p:cNvPr id="3" name="Content Placeholder 2"/>
          <p:cNvSpPr>
            <a:spLocks noGrp="1"/>
          </p:cNvSpPr>
          <p:nvPr>
            <p:ph idx="1"/>
          </p:nvPr>
        </p:nvSpPr>
        <p:spPr/>
        <p:txBody>
          <a:bodyPr/>
          <a:lstStyle/>
          <a:p>
            <a:r>
              <a:rPr lang="en-US" dirty="0"/>
              <a:t>A major amendment was made in 2008. It introduced Section </a:t>
            </a:r>
            <a:r>
              <a:rPr lang="en-US" dirty="0" smtClean="0"/>
              <a:t>66A and introduced section 69.</a:t>
            </a:r>
          </a:p>
          <a:p>
            <a:r>
              <a:rPr lang="en-US" dirty="0" smtClean="0"/>
              <a:t>On </a:t>
            </a:r>
            <a:r>
              <a:rPr lang="en-US" dirty="0"/>
              <a:t>13 April 2015, it announced that the </a:t>
            </a:r>
            <a:r>
              <a:rPr lang="en-US" dirty="0">
                <a:hlinkClick r:id="rId2" tooltip="Ministry of Home Affairs (India)"/>
              </a:rPr>
              <a:t>Ministry of Home </a:t>
            </a:r>
            <a:r>
              <a:rPr lang="en-US" dirty="0" smtClean="0">
                <a:hlinkClick r:id="rId2" tooltip="Ministry of Home Affairs (India)"/>
              </a:rPr>
              <a:t>Affairs</a:t>
            </a:r>
            <a:r>
              <a:rPr lang="en-US" dirty="0" smtClean="0"/>
              <a:t> will form a committee with </a:t>
            </a:r>
            <a:r>
              <a:rPr lang="en-US" dirty="0"/>
              <a:t> </a:t>
            </a:r>
            <a:r>
              <a:rPr lang="en-US" dirty="0">
                <a:hlinkClick r:id="rId3" tooltip="Intelligence Bureau (India)"/>
              </a:rPr>
              <a:t>Intelligence Bureau</a:t>
            </a:r>
            <a:r>
              <a:rPr lang="en-US" dirty="0"/>
              <a:t>, </a:t>
            </a:r>
            <a:r>
              <a:rPr lang="en-US" dirty="0">
                <a:hlinkClick r:id="rId4" tooltip="Central Bureau of Investigation"/>
              </a:rPr>
              <a:t>Central Bureau of Investigation</a:t>
            </a:r>
            <a:r>
              <a:rPr lang="en-US" dirty="0"/>
              <a:t>, </a:t>
            </a:r>
            <a:r>
              <a:rPr lang="en-US" dirty="0">
                <a:hlinkClick r:id="rId5" tooltip="National Investigation Agency"/>
              </a:rPr>
              <a:t>National Investigation Agency</a:t>
            </a:r>
            <a:r>
              <a:rPr lang="en-US" dirty="0"/>
              <a:t>, </a:t>
            </a:r>
            <a:r>
              <a:rPr lang="en-US" dirty="0">
                <a:hlinkClick r:id="rId6" tooltip="Delhi Police"/>
              </a:rPr>
              <a:t>Delhi Police</a:t>
            </a:r>
            <a:r>
              <a:rPr lang="en-US" dirty="0"/>
              <a:t> and ministry </a:t>
            </a:r>
            <a:r>
              <a:rPr lang="en-US" dirty="0" smtClean="0"/>
              <a:t>itself </a:t>
            </a:r>
            <a:r>
              <a:rPr lang="en-US" dirty="0"/>
              <a:t>to produce a </a:t>
            </a:r>
            <a:r>
              <a:rPr lang="en-US" dirty="0" smtClean="0"/>
              <a:t>new and advance </a:t>
            </a:r>
            <a:r>
              <a:rPr lang="en-US" dirty="0"/>
              <a:t>legal framework</a:t>
            </a:r>
            <a:r>
              <a:rPr lang="en-US" dirty="0" smtClean="0"/>
              <a:t> for IT ACT.</a:t>
            </a:r>
            <a:endParaRPr lang="en-US" dirty="0"/>
          </a:p>
        </p:txBody>
      </p:sp>
    </p:spTree>
    <p:extLst>
      <p:ext uri="{BB962C8B-B14F-4D97-AF65-F5344CB8AC3E}">
        <p14:creationId xmlns:p14="http://schemas.microsoft.com/office/powerpoint/2010/main" val="37367341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pic>
        <p:nvPicPr>
          <p:cNvPr id="1026" name="Picture 2" descr="Cyberlaw and the Covid-19 Pandemic – TRIBU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199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83579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 What is a cyber crime?</a:t>
            </a:r>
            <a:endParaRPr lang="en-US" dirty="0"/>
          </a:p>
        </p:txBody>
      </p:sp>
      <p:sp>
        <p:nvSpPr>
          <p:cNvPr id="3" name="Content Placeholder 2"/>
          <p:cNvSpPr>
            <a:spLocks noGrp="1"/>
          </p:cNvSpPr>
          <p:nvPr>
            <p:ph idx="1"/>
          </p:nvPr>
        </p:nvSpPr>
        <p:spPr>
          <a:xfrm>
            <a:off x="1141412" y="2097088"/>
            <a:ext cx="9905999" cy="3541714"/>
          </a:xfrm>
        </p:spPr>
        <p:txBody>
          <a:bodyPr>
            <a:noAutofit/>
          </a:bodyPr>
          <a:lstStyle/>
          <a:p>
            <a:r>
              <a:rPr lang="en-US" sz="2800" dirty="0"/>
              <a:t>we can say that cyber crime is unlawful acts wherein the computer is either a tool or a target or both. Cyber crimes can involve criminal activities that are traditional in nature, such as theft, fraud, forgery, defamation and mischief, all of which are subject to the Indian Penal Code. The abuse of computers has also given birth to a gamut of new age crimes that are addressed by the Information Technology Act, 2000.</a:t>
            </a:r>
          </a:p>
        </p:txBody>
      </p:sp>
    </p:spTree>
    <p:extLst>
      <p:ext uri="{BB962C8B-B14F-4D97-AF65-F5344CB8AC3E}">
        <p14:creationId xmlns:p14="http://schemas.microsoft.com/office/powerpoint/2010/main" val="2873291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Indian Penal Code (IPC) </a:t>
            </a:r>
            <a:r>
              <a:rPr lang="en-US" dirty="0" smtClean="0"/>
              <a:t>1980 Amendments with IT-ACT 2000</a:t>
            </a:r>
            <a:endParaRPr lang="en-US" dirty="0"/>
          </a:p>
        </p:txBody>
      </p:sp>
      <p:sp>
        <p:nvSpPr>
          <p:cNvPr id="3" name="Content Placeholder 2"/>
          <p:cNvSpPr>
            <a:spLocks noGrp="1"/>
          </p:cNvSpPr>
          <p:nvPr>
            <p:ph idx="1"/>
          </p:nvPr>
        </p:nvSpPr>
        <p:spPr/>
        <p:txBody>
          <a:bodyPr/>
          <a:lstStyle/>
          <a:p>
            <a:r>
              <a:rPr lang="en-US" dirty="0"/>
              <a:t>Forgery (Section 464) </a:t>
            </a:r>
          </a:p>
          <a:p>
            <a:r>
              <a:rPr lang="en-US" dirty="0"/>
              <a:t>Forgery pre-planned for cheating (Section 468) </a:t>
            </a:r>
          </a:p>
          <a:p>
            <a:r>
              <a:rPr lang="en-US" dirty="0"/>
              <a:t>False documentation (Section 465) </a:t>
            </a:r>
          </a:p>
          <a:p>
            <a:r>
              <a:rPr lang="en-US" dirty="0"/>
              <a:t>Presenting a forged document as genuine (Section 471) </a:t>
            </a:r>
          </a:p>
          <a:p>
            <a:r>
              <a:rPr lang="en-US" dirty="0"/>
              <a:t>Reputation damage (Section </a:t>
            </a:r>
            <a:r>
              <a:rPr lang="en-US" dirty="0" smtClean="0"/>
              <a:t>469)</a:t>
            </a:r>
          </a:p>
          <a:p>
            <a:endParaRPr lang="en-US" dirty="0"/>
          </a:p>
        </p:txBody>
      </p:sp>
    </p:spTree>
    <p:extLst>
      <p:ext uri="{BB962C8B-B14F-4D97-AF65-F5344CB8AC3E}">
        <p14:creationId xmlns:p14="http://schemas.microsoft.com/office/powerpoint/2010/main" val="25166564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0"/>
            <a:ext cx="9905998" cy="1478570"/>
          </a:xfrm>
        </p:spPr>
        <p:txBody>
          <a:bodyPr/>
          <a:lstStyle/>
          <a:p>
            <a:r>
              <a:rPr lang="en-US" dirty="0" smtClean="0"/>
              <a:t>Sections applied for separate Cyber crimes</a:t>
            </a:r>
            <a:endParaRPr lang="en-US" dirty="0"/>
          </a:p>
        </p:txBody>
      </p:sp>
      <p:sp>
        <p:nvSpPr>
          <p:cNvPr id="3" name="Content Placeholder 2"/>
          <p:cNvSpPr>
            <a:spLocks noGrp="1"/>
          </p:cNvSpPr>
          <p:nvPr>
            <p:ph idx="1"/>
          </p:nvPr>
        </p:nvSpPr>
        <p:spPr>
          <a:xfrm>
            <a:off x="1141413" y="1335086"/>
            <a:ext cx="9905998" cy="5141913"/>
          </a:xfrm>
        </p:spPr>
        <p:txBody>
          <a:bodyPr>
            <a:noAutofit/>
          </a:bodyPr>
          <a:lstStyle/>
          <a:p>
            <a:r>
              <a:rPr lang="en-US" sz="2600" dirty="0"/>
              <a:t>Section 65 – Tampering with computer Source Documents</a:t>
            </a:r>
          </a:p>
          <a:p>
            <a:r>
              <a:rPr lang="en-US" sz="2600" dirty="0"/>
              <a:t>Section 66 - Using password of another person</a:t>
            </a:r>
          </a:p>
          <a:p>
            <a:r>
              <a:rPr lang="en-US" sz="2600" dirty="0"/>
              <a:t>Section 66D - Cheating Using computer resource</a:t>
            </a:r>
          </a:p>
          <a:p>
            <a:r>
              <a:rPr lang="en-US" sz="2600" dirty="0"/>
              <a:t>Section 66E - Publishing private Images of Others</a:t>
            </a:r>
          </a:p>
          <a:p>
            <a:r>
              <a:rPr lang="en-US" sz="2600" dirty="0"/>
              <a:t>Section 66F - Acts of cyber Terrorism</a:t>
            </a:r>
          </a:p>
          <a:p>
            <a:r>
              <a:rPr lang="en-US" sz="2600" dirty="0"/>
              <a:t>Section 67 - Publishing Child Porn or predating children online</a:t>
            </a:r>
          </a:p>
          <a:p>
            <a:r>
              <a:rPr lang="en-US" sz="2600" dirty="0"/>
              <a:t>Section 69 - Govt.'s Power to block websites</a:t>
            </a:r>
          </a:p>
          <a:p>
            <a:r>
              <a:rPr lang="en-US" sz="2600" dirty="0"/>
              <a:t>Section 43A - Data protection at Corporate level</a:t>
            </a:r>
          </a:p>
        </p:txBody>
      </p:sp>
    </p:spTree>
    <p:extLst>
      <p:ext uri="{BB962C8B-B14F-4D97-AF65-F5344CB8AC3E}">
        <p14:creationId xmlns:p14="http://schemas.microsoft.com/office/powerpoint/2010/main" val="2286816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Refrences</a:t>
            </a:r>
            <a:endParaRPr lang="en-US" dirty="0"/>
          </a:p>
        </p:txBody>
      </p:sp>
      <p:sp>
        <p:nvSpPr>
          <p:cNvPr id="3" name="Content Placeholder 2"/>
          <p:cNvSpPr>
            <a:spLocks noGrp="1"/>
          </p:cNvSpPr>
          <p:nvPr>
            <p:ph idx="1"/>
          </p:nvPr>
        </p:nvSpPr>
        <p:spPr/>
        <p:txBody>
          <a:bodyPr/>
          <a:lstStyle/>
          <a:p>
            <a:r>
              <a:rPr lang="en-US" dirty="0">
                <a:hlinkClick r:id="rId2"/>
              </a:rPr>
              <a:t>https://</a:t>
            </a:r>
            <a:r>
              <a:rPr lang="en-US" dirty="0" smtClean="0">
                <a:hlinkClick r:id="rId2"/>
              </a:rPr>
              <a:t>www.infosecawareness.in/cyber-laws-of-india</a:t>
            </a:r>
            <a:endParaRPr lang="en-US" dirty="0" smtClean="0"/>
          </a:p>
          <a:p>
            <a:r>
              <a:rPr lang="en-US" dirty="0">
                <a:hlinkClick r:id="rId3"/>
              </a:rPr>
              <a:t>https://</a:t>
            </a:r>
            <a:r>
              <a:rPr lang="en-US" dirty="0" smtClean="0">
                <a:hlinkClick r:id="rId3"/>
              </a:rPr>
              <a:t>www.meity.gov.in/content/cyber-laws</a:t>
            </a:r>
            <a:endParaRPr lang="en-US" dirty="0" smtClean="0"/>
          </a:p>
          <a:p>
            <a:r>
              <a:rPr lang="en-US" dirty="0">
                <a:hlinkClick r:id="rId4"/>
              </a:rPr>
              <a:t>http://</a:t>
            </a:r>
            <a:r>
              <a:rPr lang="en-US" dirty="0" smtClean="0">
                <a:hlinkClick r:id="rId4"/>
              </a:rPr>
              <a:t>www.legalserviceindia.com/legal/article-1019-importance-of-cyber-law-in-india.html</a:t>
            </a:r>
            <a:endParaRPr lang="en-US" dirty="0" smtClean="0"/>
          </a:p>
          <a:p>
            <a:endParaRPr lang="en-US" dirty="0"/>
          </a:p>
        </p:txBody>
      </p:sp>
    </p:spTree>
    <p:extLst>
      <p:ext uri="{BB962C8B-B14F-4D97-AF65-F5344CB8AC3E}">
        <p14:creationId xmlns:p14="http://schemas.microsoft.com/office/powerpoint/2010/main" val="2039327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ow to Tap the Power of 'Thank Yo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224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93</TotalTime>
  <Words>355</Words>
  <Application>Microsoft Office PowerPoint</Application>
  <PresentationFormat>Widescreen</PresentationFormat>
  <Paragraphs>48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Trebuchet MS</vt:lpstr>
      <vt:lpstr>Tw Cen MT</vt:lpstr>
      <vt:lpstr>Wingdings</vt:lpstr>
      <vt:lpstr>Circuit</vt:lpstr>
      <vt:lpstr>CYBER SECURITY</vt:lpstr>
      <vt:lpstr>IT-ACT 2000</vt:lpstr>
      <vt:lpstr>Why we need IT-ACT</vt:lpstr>
      <vt:lpstr>IT-ACT 2000 details</vt:lpstr>
      <vt:lpstr>Continues …</vt:lpstr>
      <vt:lpstr>Changes since formation</vt:lpstr>
      <vt:lpstr>PowerPoint Presentation</vt:lpstr>
      <vt:lpstr>q. What is a cyber crime?</vt:lpstr>
      <vt:lpstr>Indian Penal Code (IPC) 1980 Amendments with IT-ACT 2000</vt:lpstr>
      <vt:lpstr>Sections applied for separate Cyber crimes</vt:lpstr>
      <vt:lpstr>Refrences</vt:lpstr>
      <vt:lpstr>PowerPoint Presentation</vt:lpstr>
    </vt:vector>
  </TitlesOfParts>
  <Company>HCL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SECURITY</dc:title>
  <dc:creator>Rahul Kumar</dc:creator>
  <cp:lastModifiedBy>Rahul Kumar</cp:lastModifiedBy>
  <cp:revision>13</cp:revision>
  <dcterms:created xsi:type="dcterms:W3CDTF">2020-12-20T04:37:11Z</dcterms:created>
  <dcterms:modified xsi:type="dcterms:W3CDTF">2020-12-26T04:44:47Z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3e1c0ccb-598c-4009-b249-2e2d04aafc68</vt:lpwstr>
  </property>
  <property fmtid="{D5CDD505-2E9C-101B-9397-08002B2CF9AE}" pid="3" name="HCLClassification">
    <vt:lpwstr>HCL_Cla5s_Publ1c</vt:lpwstr>
  </property>
  <property fmtid="{D5CDD505-2E9C-101B-9397-08002B2CF9AE}" pid="4" name="HCLClassD6">
    <vt:lpwstr>False</vt:lpwstr>
  </property>
</Properties>
</file>